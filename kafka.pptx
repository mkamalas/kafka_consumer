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94"/>
  </p:normalViewPr>
  <p:slideViewPr>
    <p:cSldViewPr snapToGrid="0" snapToObjects="1">
      <p:cViewPr varScale="1">
        <p:scale>
          <a:sx n="104" d="100"/>
          <a:sy n="104" d="100"/>
        </p:scale>
        <p:origin x="232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F2AA2-F43A-CB4D-806F-B356681B23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57FE79-976C-A047-AC53-B4C9DB85F7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5B7E0-DA20-A24E-97BD-57FB073EE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31D68-DDD6-3A4D-8A33-9E866349E2D1}" type="datetimeFigureOut">
              <a:rPr lang="en-US" smtClean="0"/>
              <a:t>11/29/20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8D83E-C266-0545-BC9B-6B5C10852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71FF4-CF4A-BB42-8616-9EC6D5F3F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4F9A6-E9B1-1F46-9833-4C7A8D2AE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030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D4DA4-ABCE-0648-BD6D-0937AF617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C6A55-D04F-9E41-87DD-091616030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B25AA-BCA8-9A4A-9BAA-AB6269285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31D68-DDD6-3A4D-8A33-9E866349E2D1}" type="datetimeFigureOut">
              <a:rPr lang="en-US" smtClean="0"/>
              <a:t>11/29/20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7ACC6-C4F7-CA43-9919-313C168D6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6C097-A26B-3E45-B756-59C52AF57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4F9A6-E9B1-1F46-9833-4C7A8D2AE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401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7582D-A7FF-4B4B-9363-4CF90829E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5F6E4C-0E28-6142-9684-DE0A61DA8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118A5-CD24-3847-A180-0287F3066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31D68-DDD6-3A4D-8A33-9E866349E2D1}" type="datetimeFigureOut">
              <a:rPr lang="en-US" smtClean="0"/>
              <a:t>11/29/20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AC6AB-CCF0-2F45-B153-EDCC1CBED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0891E-3178-1545-A7FA-5DEFECF97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4F9A6-E9B1-1F46-9833-4C7A8D2AE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166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DC194-E967-204F-8CFE-F214F5BF5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A5115-CFDD-A04A-88B7-43BD94D0E6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B960B7-E01F-4848-926E-CE0A06E2C7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4C1EC1-AF7F-2945-9F77-C5ADFC002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31D68-DDD6-3A4D-8A33-9E866349E2D1}" type="datetimeFigureOut">
              <a:rPr lang="en-US" smtClean="0"/>
              <a:t>11/29/20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96E93E-7408-0144-A432-DA18D0A74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3B8364-A4B1-684A-9000-F7B91EB78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4F9A6-E9B1-1F46-9833-4C7A8D2AE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410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508E5-6D0F-DD49-8089-D88646726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62E43C-6EA0-B94F-B68E-AED9BFB23E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EB5341-FBB2-2B44-99E7-931C871163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DC1049-2880-6E4A-BE26-C8AB27AE65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830B4D-BB02-3B46-9BA2-B2C37E9BF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701C30-3CC5-FC47-82E1-30DF67B6E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31D68-DDD6-3A4D-8A33-9E866349E2D1}" type="datetimeFigureOut">
              <a:rPr lang="en-US" smtClean="0"/>
              <a:t>11/29/20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6BC544-120D-BB41-8B26-02497B239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868A7F-E6D6-FF41-A9BB-146585A7F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4F9A6-E9B1-1F46-9833-4C7A8D2AE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93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12242-28CE-204A-BE29-E5E9D9E12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242C0D-4C3A-EE45-83C7-8B2ADF2C3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31D68-DDD6-3A4D-8A33-9E866349E2D1}" type="datetimeFigureOut">
              <a:rPr lang="en-US" smtClean="0"/>
              <a:t>11/29/20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C0170F-A252-9D46-8CC1-91180E67F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81CA48-634D-F649-90E0-C3C6D7892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4F9A6-E9B1-1F46-9833-4C7A8D2AE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432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9D3968-7FA4-8D43-95CE-8DEA05C4F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31D68-DDD6-3A4D-8A33-9E866349E2D1}" type="datetimeFigureOut">
              <a:rPr lang="en-US" smtClean="0"/>
              <a:t>11/29/20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FFB6E0-0668-314B-B909-B7CE3D172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C0D795-5F79-B949-9593-5B9F087D4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4F9A6-E9B1-1F46-9833-4C7A8D2AE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713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B18CD-565E-4E41-A8A7-83DE355CD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A0090-A806-EC4F-8F34-DDA1FFC5B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2E2812-EA19-2948-9E1A-3A8375FB40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F9BA04-AC05-2F40-B23A-EE6A67E77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31D68-DDD6-3A4D-8A33-9E866349E2D1}" type="datetimeFigureOut">
              <a:rPr lang="en-US" smtClean="0"/>
              <a:t>11/29/20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B2DB36-7C08-1143-A6C7-B1996FF6C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98C129-47EA-E145-B6E8-227C4177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4F9A6-E9B1-1F46-9833-4C7A8D2AE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773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50364-B7D1-8740-BD53-F875D377C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A11614-B320-1448-B1A2-C33D386117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CC3ED5-D117-3441-8D0E-25C9B72CF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AAC915-C963-524C-89C0-336FC4DE3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31D68-DDD6-3A4D-8A33-9E866349E2D1}" type="datetimeFigureOut">
              <a:rPr lang="en-US" smtClean="0"/>
              <a:t>11/29/20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E4604-0DF7-C942-9D11-C56F1249D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A428B-33E6-244A-87B1-417CEC98D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4F9A6-E9B1-1F46-9833-4C7A8D2AE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445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C13B0-2FB3-A44E-A244-54A9B720E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7A7B08-49B9-D848-81FE-2829C1CF75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425ED-D928-D24E-A70E-6FB3102F8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31D68-DDD6-3A4D-8A33-9E866349E2D1}" type="datetimeFigureOut">
              <a:rPr lang="en-US" smtClean="0"/>
              <a:t>11/29/20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987950-AF9E-B146-AAA8-21A89B2B0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A088A-2E37-0141-9D57-B055A21E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4F9A6-E9B1-1F46-9833-4C7A8D2AE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167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65CA28-3F1A-3144-BE0E-DB08E44D06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A58129-DDC0-F340-AE94-6328C08DD9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FB67C-0FE8-F54F-AA6F-648CDE114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31D68-DDD6-3A4D-8A33-9E866349E2D1}" type="datetimeFigureOut">
              <a:rPr lang="en-US" smtClean="0"/>
              <a:t>11/29/20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95E63-CB4F-8143-9B37-3DE17956B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09FD67-C401-8C4F-9364-BD4D825A7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4F9A6-E9B1-1F46-9833-4C7A8D2AE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5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9BA924-AE88-614C-9419-94B79915B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8AFD1-76AD-C14D-A9AE-63DA97B05D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5829A-4474-AB48-9866-8C58172CA4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931D68-DDD6-3A4D-8A33-9E866349E2D1}" type="datetimeFigureOut">
              <a:rPr lang="en-US" smtClean="0"/>
              <a:t>11/29/20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5BA37-FCC5-AF40-B2D1-0DCCC23D62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7BB03-636B-6545-8AC4-F65BE8A45B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54F9A6-E9B1-1F46-9833-4C7A8D2AE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701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Diagram&#10;&#10;Description automatically generated">
            <a:extLst>
              <a:ext uri="{FF2B5EF4-FFF2-40B4-BE49-F238E27FC236}">
                <a16:creationId xmlns:a16="http://schemas.microsoft.com/office/drawing/2014/main" id="{A5753001-9501-2147-A98F-2982C1BAB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4778" y="187468"/>
            <a:ext cx="12970101" cy="6114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927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463DB4A-C184-AE49-9CD1-AD7C89DCC9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6469937"/>
              </p:ext>
            </p:extLst>
          </p:nvPr>
        </p:nvGraphicFramePr>
        <p:xfrm>
          <a:off x="497149" y="150920"/>
          <a:ext cx="11407806" cy="6356410"/>
        </p:xfrm>
        <a:graphic>
          <a:graphicData uri="http://schemas.openxmlformats.org/drawingml/2006/table">
            <a:tbl>
              <a:tblPr/>
              <a:tblGrid>
                <a:gridCol w="5703903">
                  <a:extLst>
                    <a:ext uri="{9D8B030D-6E8A-4147-A177-3AD203B41FA5}">
                      <a16:colId xmlns:a16="http://schemas.microsoft.com/office/drawing/2014/main" val="4265820460"/>
                    </a:ext>
                  </a:extLst>
                </a:gridCol>
                <a:gridCol w="5703903">
                  <a:extLst>
                    <a:ext uri="{9D8B030D-6E8A-4147-A177-3AD203B41FA5}">
                      <a16:colId xmlns:a16="http://schemas.microsoft.com/office/drawing/2014/main" val="1441614784"/>
                    </a:ext>
                  </a:extLst>
                </a:gridCol>
              </a:tblGrid>
              <a:tr h="1477786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FFFFFF"/>
                          </a:solidFill>
                          <a:effectLst/>
                        </a:rPr>
                        <a:t>Capability</a:t>
                      </a:r>
                    </a:p>
                  </a:txBody>
                  <a:tcPr marL="38796" marR="38796" marT="38796" marB="387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77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FFFFFF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L="38796" marR="38796" marT="38796" marB="387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7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7514911"/>
                  </a:ext>
                </a:extLst>
              </a:tr>
              <a:tr h="361928">
                <a:tc>
                  <a:txBody>
                    <a:bodyPr/>
                    <a:lstStyle/>
                    <a:p>
                      <a:r>
                        <a:rPr lang="en-US" sz="1500" dirty="0">
                          <a:effectLst/>
                        </a:rPr>
                        <a:t>High Throughput</a:t>
                      </a:r>
                    </a:p>
                  </a:txBody>
                  <a:tcPr marL="38796" marR="38796" marT="38796" marB="387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Can process millions of messages</a:t>
                      </a:r>
                    </a:p>
                  </a:txBody>
                  <a:tcPr marL="38796" marR="38796" marT="38796" marB="387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865029"/>
                  </a:ext>
                </a:extLst>
              </a:tr>
              <a:tr h="632140">
                <a:tc>
                  <a:txBody>
                    <a:bodyPr/>
                    <a:lstStyle/>
                    <a:p>
                      <a:br>
                        <a:rPr lang="en-US" sz="1500">
                          <a:effectLst/>
                        </a:rPr>
                      </a:br>
                      <a:r>
                        <a:rPr lang="en-US" sz="1500">
                          <a:effectLst/>
                        </a:rPr>
                        <a:t>Distributed</a:t>
                      </a:r>
                    </a:p>
                  </a:txBody>
                  <a:tcPr marL="38796" marR="38796" marT="38796" marB="387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 Supports message partitioning over Kafka servers and distributing consumption over a cluster of consumer</a:t>
                      </a:r>
                    </a:p>
                  </a:txBody>
                  <a:tcPr marL="38796" marR="38796" marT="38796" marB="387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0403662"/>
                  </a:ext>
                </a:extLst>
              </a:tr>
              <a:tr h="361928"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Replication </a:t>
                      </a:r>
                    </a:p>
                  </a:txBody>
                  <a:tcPr marL="38796" marR="38796" marT="38796" marB="387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effectLst/>
                        </a:rPr>
                        <a:t>Messages can be replicated within and across cluster</a:t>
                      </a:r>
                    </a:p>
                  </a:txBody>
                  <a:tcPr marL="38796" marR="38796" marT="38796" marB="387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167032"/>
                  </a:ext>
                </a:extLst>
              </a:tr>
              <a:tr h="361928"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Scalability </a:t>
                      </a:r>
                    </a:p>
                  </a:txBody>
                  <a:tcPr marL="38796" marR="38796" marT="38796" marB="387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Highly scalable with no downtime</a:t>
                      </a:r>
                    </a:p>
                  </a:txBody>
                  <a:tcPr marL="38796" marR="38796" marT="38796" marB="387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399098"/>
                  </a:ext>
                </a:extLst>
              </a:tr>
              <a:tr h="632140">
                <a:tc>
                  <a:txBody>
                    <a:bodyPr/>
                    <a:lstStyle/>
                    <a:p>
                      <a:r>
                        <a:rPr lang="en-US" sz="1500" b="1">
                          <a:effectLst/>
                        </a:rPr>
                        <a:t>Durability</a:t>
                      </a:r>
                      <a:endParaRPr lang="en-US" sz="1500">
                        <a:effectLst/>
                      </a:endParaRPr>
                    </a:p>
                  </a:txBody>
                  <a:tcPr marL="38796" marR="38796" marT="38796" marB="387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Message persisted on disk and intra-cluster replication supported</a:t>
                      </a:r>
                    </a:p>
                  </a:txBody>
                  <a:tcPr marL="38796" marR="38796" marT="38796" marB="387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1383096"/>
                  </a:ext>
                </a:extLst>
              </a:tr>
              <a:tr h="632140">
                <a:tc>
                  <a:txBody>
                    <a:bodyPr/>
                    <a:lstStyle/>
                    <a:p>
                      <a:r>
                        <a:rPr lang="en-US" sz="1500" b="1">
                          <a:effectLst/>
                        </a:rPr>
                        <a:t>Persistence</a:t>
                      </a:r>
                      <a:endParaRPr lang="en-US" sz="1500">
                        <a:effectLst/>
                      </a:endParaRPr>
                    </a:p>
                  </a:txBody>
                  <a:tcPr marL="38796" marR="38796" marT="38796" marB="387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Persists messages to disk;from disk can be persisted in Hadoop and other systems as needed.</a:t>
                      </a:r>
                    </a:p>
                  </a:txBody>
                  <a:tcPr marL="38796" marR="38796" marT="38796" marB="387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325913"/>
                  </a:ext>
                </a:extLst>
              </a:tr>
              <a:tr h="632140">
                <a:tc>
                  <a:txBody>
                    <a:bodyPr/>
                    <a:lstStyle/>
                    <a:p>
                      <a:r>
                        <a:rPr lang="en-US" sz="1500" b="1">
                          <a:effectLst/>
                        </a:rPr>
                        <a:t>Stream Processing</a:t>
                      </a:r>
                      <a:endParaRPr lang="en-US" sz="1500">
                        <a:effectLst/>
                      </a:endParaRPr>
                    </a:p>
                  </a:txBody>
                  <a:tcPr marL="38796" marR="38796" marT="38796" marB="387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Can be used with real-time streaming applications like Spark</a:t>
                      </a:r>
                    </a:p>
                  </a:txBody>
                  <a:tcPr marL="38796" marR="38796" marT="38796" marB="387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424322"/>
                  </a:ext>
                </a:extLst>
              </a:tr>
              <a:tr h="632140">
                <a:tc>
                  <a:txBody>
                    <a:bodyPr/>
                    <a:lstStyle/>
                    <a:p>
                      <a:br>
                        <a:rPr lang="en-US" sz="1500">
                          <a:effectLst/>
                        </a:rPr>
                      </a:br>
                      <a:r>
                        <a:rPr lang="en-US" sz="1500">
                          <a:effectLst/>
                        </a:rPr>
                        <a:t>Hadoop Support</a:t>
                      </a:r>
                    </a:p>
                  </a:txBody>
                  <a:tcPr marL="38796" marR="38796" marT="38796" marB="387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Fully supported in </a:t>
                      </a:r>
                      <a:r>
                        <a:rPr lang="en-US" sz="1500" b="1">
                          <a:effectLst/>
                        </a:rPr>
                        <a:t>Hadoop </a:t>
                      </a:r>
                      <a:r>
                        <a:rPr lang="en-US" sz="1500">
                          <a:effectLst/>
                        </a:rPr>
                        <a:t>platform</a:t>
                      </a:r>
                    </a:p>
                  </a:txBody>
                  <a:tcPr marL="38796" marR="38796" marT="38796" marB="387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4688029"/>
                  </a:ext>
                </a:extLst>
              </a:tr>
              <a:tr h="632140"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Client Support </a:t>
                      </a:r>
                    </a:p>
                  </a:txBody>
                  <a:tcPr marL="38796" marR="38796" marT="38796" marB="387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effectLst/>
                        </a:rPr>
                        <a:t>Multiple client support - Java, Python, C, C++.Ruby, JavaScript etc.</a:t>
                      </a:r>
                    </a:p>
                  </a:txBody>
                  <a:tcPr marL="38796" marR="38796" marT="38796" marB="387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6298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4525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iagram&#10;&#10;Description automatically generated">
            <a:extLst>
              <a:ext uri="{FF2B5EF4-FFF2-40B4-BE49-F238E27FC236}">
                <a16:creationId xmlns:a16="http://schemas.microsoft.com/office/drawing/2014/main" id="{AD3E76F7-474D-3F4E-8179-338A28519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778" y="461760"/>
            <a:ext cx="9629519" cy="6158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710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107</Words>
  <Application>Microsoft Macintosh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Kamalaseshan Radha, Meenakshi</dc:creator>
  <cp:lastModifiedBy>Kamalaseshan Radha, Meenakshi</cp:lastModifiedBy>
  <cp:revision>8</cp:revision>
  <dcterms:created xsi:type="dcterms:W3CDTF">2020-11-30T01:30:13Z</dcterms:created>
  <dcterms:modified xsi:type="dcterms:W3CDTF">2020-11-30T03:13:55Z</dcterms:modified>
</cp:coreProperties>
</file>